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83" r:id="rId2"/>
    <p:sldId id="257" r:id="rId3"/>
    <p:sldId id="282" r:id="rId4"/>
    <p:sldId id="284" r:id="rId5"/>
    <p:sldId id="285" r:id="rId6"/>
    <p:sldId id="281" r:id="rId7"/>
    <p:sldId id="279" r:id="rId8"/>
    <p:sldId id="262" r:id="rId9"/>
    <p:sldId id="264" r:id="rId10"/>
    <p:sldId id="278" r:id="rId11"/>
    <p:sldId id="286" r:id="rId12"/>
    <p:sldId id="277" r:id="rId13"/>
    <p:sldId id="280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20A8E369-C804-D8D2-383B-03E8A5478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168FC73D-F867-8E13-0025-1B40818921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449581B4-9B47-7782-B749-078618A6E5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05151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cia-builds/predictive-maintenance-ibm-ml.gi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 dirty="0"/>
              <a:t>IBM University Engagement Project Submission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 dirty="0"/>
              <a:t>“Exploring the Power of Agentic AI with IBM Granite and </a:t>
            </a:r>
            <a:r>
              <a:rPr lang="en-US" b="1" i="1" dirty="0" err="1"/>
              <a:t>LangFlow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300836700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Student Name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dirty="0"/>
                        <a:t>Anwesha Sural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700"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7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lucia67217@gmail.com</a:t>
                      </a:r>
                      <a:endParaRPr sz="17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dirty="0"/>
                        <a:t>      8420419545</a:t>
                      </a:r>
                      <a:endParaRPr sz="18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3" y="1460724"/>
            <a:ext cx="106417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dirty="0"/>
              <a:t>Education Technology (EdTech) – AI-based Personalized Learning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100911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 err="1"/>
              <a:t>LearnMate</a:t>
            </a:r>
            <a:r>
              <a:rPr lang="en-IN" sz="2400" dirty="0"/>
              <a:t> –</a:t>
            </a:r>
            <a:r>
              <a:rPr lang="en-US" sz="2400" dirty="0"/>
              <a:t>Agentic AI for Personalized Course Pathways</a:t>
            </a:r>
            <a:endParaRPr lang="en-IN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0EEA60-C67D-B09A-375E-1B1D49524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164" y="3683879"/>
            <a:ext cx="825957" cy="990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428588" y="733133"/>
            <a:ext cx="11615928" cy="621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Problem Statement: Predictive Maintenance of Industrial Machinery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The 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Industrial machines can fail suddenly due to tool wear, overheating, torque issues, or power faults. These failures cause downtime, high maintenance cost, and production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The Objective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Build a </a:t>
            </a:r>
            <a:r>
              <a:rPr lang="en-IN" sz="1600" b="1" dirty="0"/>
              <a:t>Machine Learning-based Predictive Maintenance System</a:t>
            </a:r>
            <a:r>
              <a:rPr lang="en-IN" sz="1600" dirty="0"/>
              <a:t> that predicts machine failure type using sensor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system uses: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Machine type ,Air temperature ,Process temperature ,Rotational speed ,Torque ,Tool wear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Model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A </a:t>
            </a:r>
            <a:r>
              <a:rPr lang="en-IN" sz="1600" b="1" dirty="0"/>
              <a:t>Random Forest Classifier</a:t>
            </a:r>
            <a:r>
              <a:rPr lang="en-IN" sz="1600" dirty="0"/>
              <a:t> was trained to classify failure types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No Failure ,Power Failure ,Tool Wear Failure ,Heat Dissipation Failure ,Overstrain Failure ,Random Failure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Cloud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model was trained in </a:t>
            </a:r>
            <a:r>
              <a:rPr lang="en-IN" sz="1600" b="1" dirty="0"/>
              <a:t>IBM watsonx.ai Studio</a:t>
            </a:r>
            <a:r>
              <a:rPr lang="en-IN" sz="1600" dirty="0"/>
              <a:t> and deployed as an online backend service using </a:t>
            </a:r>
            <a:r>
              <a:rPr lang="en-IN" sz="1600" b="1" dirty="0"/>
              <a:t>IBM watsonx.ai Runtime / Watson Machine Learning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Final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The deployed model predicts the machine condition from input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Example output: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Prediction: No Failure</a:t>
            </a: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Model accuracy: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98.15%</a:t>
            </a:r>
            <a:endParaRPr lang="en-IN" sz="1600" dirty="0"/>
          </a:p>
          <a:p>
            <a:pPr algn="just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428588" y="27146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6A77E81F-021A-57FB-C709-7E7075649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CFCB91-EF22-EB8C-5B0D-4D46021F0245}"/>
              </a:ext>
            </a:extLst>
          </p:cNvPr>
          <p:cNvSpPr txBox="1"/>
          <p:nvPr/>
        </p:nvSpPr>
        <p:spPr>
          <a:xfrm>
            <a:off x="667512" y="1165753"/>
            <a:ext cx="106070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b="1" dirty="0"/>
              <a:t>Tech Stack Used</a:t>
            </a:r>
          </a:p>
          <a:p>
            <a:r>
              <a:rPr lang="en-IN" b="1" dirty="0"/>
              <a:t>IBM watsonx.ai Studio</a:t>
            </a:r>
            <a:r>
              <a:rPr lang="en-IN" dirty="0"/>
              <a:t> – for </a:t>
            </a:r>
            <a:r>
              <a:rPr lang="en-IN" dirty="0" err="1"/>
              <a:t>Jupyter</a:t>
            </a:r>
            <a:r>
              <a:rPr lang="en-IN" dirty="0"/>
              <a:t> Notebook, data preprocessing, model training, and testing </a:t>
            </a:r>
          </a:p>
          <a:p>
            <a:r>
              <a:rPr lang="en-IN" b="1" dirty="0"/>
              <a:t>IBM Cloud Object Storage</a:t>
            </a:r>
            <a:r>
              <a:rPr lang="en-IN" dirty="0"/>
              <a:t> – for storing dataset and model assets </a:t>
            </a:r>
          </a:p>
          <a:p>
            <a:r>
              <a:rPr lang="en-IN" b="1" dirty="0"/>
              <a:t>IBM watsonx.ai Runtime / Watson Machine Learning</a:t>
            </a:r>
            <a:r>
              <a:rPr lang="en-IN" dirty="0"/>
              <a:t> – for deploying the trained model as an online backend service </a:t>
            </a:r>
          </a:p>
          <a:p>
            <a:r>
              <a:rPr lang="en-IN" b="1" dirty="0"/>
              <a:t>IBM Granite Models</a:t>
            </a:r>
            <a:r>
              <a:rPr lang="en-IN" dirty="0"/>
              <a:t> – included as part of the IBM AI ecosystem requirement </a:t>
            </a:r>
          </a:p>
          <a:p>
            <a:r>
              <a:rPr lang="en-IN" b="1" dirty="0"/>
              <a:t>Python</a:t>
            </a:r>
            <a:r>
              <a:rPr lang="en-IN" dirty="0"/>
              <a:t> – for ML implementation </a:t>
            </a:r>
          </a:p>
          <a:p>
            <a:r>
              <a:rPr lang="en-IN" b="1" dirty="0"/>
              <a:t>Scikit-learn</a:t>
            </a:r>
            <a:r>
              <a:rPr lang="en-IN" dirty="0"/>
              <a:t> – for Random Forest Classifier </a:t>
            </a:r>
          </a:p>
          <a:p>
            <a:r>
              <a:rPr lang="en-IN" b="1" dirty="0"/>
              <a:t>Used Tech Stack:</a:t>
            </a:r>
            <a:br>
              <a:rPr lang="en-IN" dirty="0"/>
            </a:br>
            <a:r>
              <a:rPr lang="en-IN" b="1" dirty="0"/>
              <a:t>IBM watsonx.ai Studio + IBM Granite Models + IBM Cloud Object Storage + IBM watsonx.ai Runtime / Watson Machine Learning</a:t>
            </a:r>
            <a:endParaRPr lang="en-IN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  <a:p>
            <a:pPr fontAlgn="base"/>
            <a:endParaRPr lang="en-IN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D926A1-0833-2949-651F-2AAB4D91A8C9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218467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321820"/>
            <a:ext cx="1060704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Proposed Solution: Predictive Maintenance of Industrial Machinery</a:t>
            </a:r>
          </a:p>
          <a:p>
            <a:r>
              <a:rPr lang="en-IN" sz="1800" dirty="0"/>
              <a:t>The proposed solution is a </a:t>
            </a:r>
            <a:r>
              <a:rPr lang="en-IN" sz="1800" b="1" dirty="0"/>
              <a:t>Machine Learning-based Predictive Maintenance System</a:t>
            </a:r>
            <a:r>
              <a:rPr lang="en-IN" sz="1800" dirty="0"/>
              <a:t> that predicts possible machine failures before they occur. The system uses machine sensor data such as temperature, rotational speed, torque, tool wear, and machine type to classify the failure condition.</a:t>
            </a:r>
          </a:p>
          <a:p>
            <a:r>
              <a:rPr lang="en-IN" sz="1800" dirty="0"/>
              <a:t>The system works in the following steps:</a:t>
            </a:r>
          </a:p>
          <a:p>
            <a:r>
              <a:rPr lang="en-IN" sz="1800" b="1" dirty="0"/>
              <a:t>Dataset Upload</a:t>
            </a:r>
            <a:r>
              <a:rPr lang="en-IN" sz="1800" dirty="0"/>
              <a:t> – The predictive maintenance dataset is uploaded and stored using IBM Cloud Object Storage. </a:t>
            </a:r>
          </a:p>
          <a:p>
            <a:r>
              <a:rPr lang="en-IN" sz="1800" b="1" dirty="0"/>
              <a:t>Data Preprocessing</a:t>
            </a:r>
            <a:r>
              <a:rPr lang="en-IN" sz="1800" dirty="0"/>
              <a:t> – The data is cleaned, encoded, and prepared for machine learning. </a:t>
            </a:r>
          </a:p>
          <a:p>
            <a:r>
              <a:rPr lang="en-IN" sz="1800" b="1" dirty="0"/>
              <a:t>Model Training</a:t>
            </a:r>
            <a:r>
              <a:rPr lang="en-IN" sz="1800" dirty="0"/>
              <a:t> – A </a:t>
            </a:r>
            <a:r>
              <a:rPr lang="en-IN" sz="1800" b="1" dirty="0"/>
              <a:t>Random Forest Classifier</a:t>
            </a:r>
            <a:r>
              <a:rPr lang="en-IN" sz="1800" dirty="0"/>
              <a:t> is trained using IBM watsonx.ai Studio. </a:t>
            </a:r>
          </a:p>
          <a:p>
            <a:r>
              <a:rPr lang="en-IN" sz="1800" b="1" dirty="0"/>
              <a:t>Model Evaluation</a:t>
            </a:r>
            <a:r>
              <a:rPr lang="en-IN" sz="1800" dirty="0"/>
              <a:t> – The model is tested using accuracy, classification report, confusion matrix, and feature importance. </a:t>
            </a:r>
          </a:p>
          <a:p>
            <a:r>
              <a:rPr lang="en-IN" sz="1800" b="1" dirty="0"/>
              <a:t>IBM Cloud Deployment</a:t>
            </a:r>
            <a:r>
              <a:rPr lang="en-IN" sz="1800" dirty="0"/>
              <a:t> – The trained model is deployed as an online backend service using </a:t>
            </a:r>
            <a:r>
              <a:rPr lang="en-IN" sz="1800" b="1" dirty="0"/>
              <a:t>IBM watsonx.ai Runtime / Watson Machine Learning</a:t>
            </a:r>
            <a:r>
              <a:rPr lang="en-IN" sz="1800" dirty="0"/>
              <a:t>. </a:t>
            </a:r>
          </a:p>
          <a:p>
            <a:r>
              <a:rPr lang="en-IN" sz="1800" b="1" dirty="0"/>
              <a:t>Prediction Testing</a:t>
            </a:r>
            <a:r>
              <a:rPr lang="en-IN" sz="1800" dirty="0"/>
              <a:t> – The deployed model accepts machine sensor values and predicts the failure type. </a:t>
            </a:r>
          </a:p>
          <a:p>
            <a:r>
              <a:rPr lang="en-IN" sz="1800" dirty="0"/>
              <a:t>The system can predict classes such as </a:t>
            </a:r>
            <a:r>
              <a:rPr lang="en-IN" sz="1800" b="1" dirty="0"/>
              <a:t>No Failure, Power Failure, Tool Wear Failure, Heat Dissipation Failure, Overstrain Failure,</a:t>
            </a:r>
            <a:r>
              <a:rPr lang="en-IN" sz="1800" dirty="0"/>
              <a:t> and </a:t>
            </a:r>
            <a:r>
              <a:rPr lang="en-IN" sz="1800" b="1" dirty="0"/>
              <a:t>Random Failure</a:t>
            </a:r>
            <a:r>
              <a:rPr lang="en-IN" sz="1800" dirty="0"/>
              <a:t>.</a:t>
            </a:r>
          </a:p>
          <a:p>
            <a:r>
              <a:rPr lang="en-IN" sz="1800" dirty="0"/>
              <a:t>The final model achieved </a:t>
            </a:r>
            <a:r>
              <a:rPr lang="en-IN" sz="1800" b="1" dirty="0"/>
              <a:t>98.15% accuracy</a:t>
            </a:r>
            <a:r>
              <a:rPr lang="en-IN" sz="1800" dirty="0"/>
              <a:t> and was successfully deployed on IBM Cloud as an online prediction service.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-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File 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File Component</a:t>
            </a:r>
            <a:r>
              <a:rPr lang="en-IN" dirty="0"/>
              <a:t> – Stores and retrieves machine sensor dataset, trained model files, and prediction records for analysis, testing, and deployment.</a:t>
            </a:r>
          </a:p>
          <a:p>
            <a:r>
              <a:rPr lang="en-IN" b="1" dirty="0"/>
              <a:t>Additional Components Used:</a:t>
            </a:r>
            <a:endParaRPr lang="en-IN" dirty="0"/>
          </a:p>
          <a:p>
            <a:r>
              <a:rPr lang="en-IN" b="1" dirty="0"/>
              <a:t>Dataset Component</a:t>
            </a:r>
            <a:r>
              <a:rPr lang="en-IN" dirty="0"/>
              <a:t> – Stores the predictive maintenance dataset used for model training. </a:t>
            </a:r>
          </a:p>
          <a:p>
            <a:r>
              <a:rPr lang="en-IN" b="1" dirty="0"/>
              <a:t>Preprocessing Component</a:t>
            </a:r>
            <a:r>
              <a:rPr lang="en-IN" dirty="0"/>
              <a:t> – Handles encoding, feature selection, and train-test split. </a:t>
            </a:r>
          </a:p>
          <a:p>
            <a:r>
              <a:rPr lang="en-IN" b="1" dirty="0"/>
              <a:t>ML Model Component</a:t>
            </a:r>
            <a:r>
              <a:rPr lang="en-IN" dirty="0"/>
              <a:t> – Uses Random Forest Classifier to predict machine failure type. </a:t>
            </a:r>
          </a:p>
          <a:p>
            <a:r>
              <a:rPr lang="en-IN" b="1" dirty="0"/>
              <a:t>Deployment Component</a:t>
            </a:r>
            <a:r>
              <a:rPr lang="en-IN" dirty="0"/>
              <a:t> – Deploys the trained model using IBM watsonx.ai Runtime / Watson Machine Learning. </a:t>
            </a:r>
          </a:p>
          <a:p>
            <a:r>
              <a:rPr lang="en-IN" b="1" dirty="0"/>
              <a:t>Prediction Component</a:t>
            </a:r>
            <a:r>
              <a:rPr lang="en-IN" dirty="0"/>
              <a:t> – Accepts machine sensor values and returns the predicted failure type. </a:t>
            </a:r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IBM ML workflow -</a:t>
            </a:r>
            <a:endParaRPr sz="2400" b="1" dirty="0"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62AD6-EC5B-362F-9C17-F976B9481D71}"/>
              </a:ext>
            </a:extLst>
          </p:cNvPr>
          <p:cNvSpPr txBox="1"/>
          <p:nvPr/>
        </p:nvSpPr>
        <p:spPr>
          <a:xfrm>
            <a:off x="6446519" y="1018010"/>
            <a:ext cx="609600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IBM Cloud ML Workflow</a:t>
            </a:r>
          </a:p>
          <a:p>
            <a:pPr>
              <a:buNone/>
            </a:pPr>
            <a:endParaRPr lang="en-IN" dirty="0"/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Kaggle Dataset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IBM Cloud Object Storage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IBM watsonx.ai Studio Notebook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Data Preprocessing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Random Forest Classifier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Model Evaluation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IBM watsonx.ai Runtime / Watson Machine Learning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Online Model Deployment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      ↓</a:t>
            </a:r>
            <a:br>
              <a:rPr lang="en-IN" dirty="0">
                <a:latin typeface="Courier New" panose="02070309020205020404" pitchFamily="49" charset="0"/>
              </a:rPr>
            </a:br>
            <a:r>
              <a:rPr lang="en-IN" dirty="0">
                <a:latin typeface="Courier New" panose="02070309020205020404" pitchFamily="49" charset="0"/>
              </a:rPr>
              <a:t>Prediction Output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47A578-649B-8237-AC82-507890550CE1}"/>
              </a:ext>
            </a:extLst>
          </p:cNvPr>
          <p:cNvSpPr txBox="1"/>
          <p:nvPr/>
        </p:nvSpPr>
        <p:spPr>
          <a:xfrm>
            <a:off x="537590" y="1697175"/>
            <a:ext cx="49389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Workflow Explanation:</a:t>
            </a:r>
            <a:br>
              <a:rPr lang="en-IN" dirty="0"/>
            </a:br>
            <a:r>
              <a:rPr lang="en-IN" dirty="0"/>
              <a:t>The predictive maintenance dataset is uploaded to IBM Cloud Object Storage and processed in IBM watsonx.ai Studio Notebook. After preprocessing and label encoding, a Random Forest Classifier is trained and evaluated. The trained model is then deployed using IBM watsonx.ai Runtime / Watson Machine Learning as an online backend service. The deployed model accepts machine sensor values and predicts the failure type.</a:t>
            </a:r>
          </a:p>
        </p:txBody>
      </p:sp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4F6F2-0FC2-4F35-3FA7-27433D81F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Role of Machine Learning in the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6270621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Role of Machine Learning in the Solution</a:t>
            </a:r>
          </a:p>
          <a:p>
            <a:r>
              <a:rPr lang="en-IN" dirty="0"/>
              <a:t>Machine Learning plays the main role in this predictive maintenance system. It helps the system learn patterns from machine sensor data and predict possible failures before they happen.</a:t>
            </a:r>
          </a:p>
          <a:p>
            <a:endParaRPr lang="en-IN" dirty="0"/>
          </a:p>
          <a:p>
            <a:r>
              <a:rPr lang="en-IN" dirty="0"/>
              <a:t>The model </a:t>
            </a:r>
            <a:r>
              <a:rPr lang="en-IN" dirty="0" err="1"/>
              <a:t>analyzes</a:t>
            </a:r>
            <a:r>
              <a:rPr lang="en-IN" dirty="0"/>
              <a:t> inputs such as </a:t>
            </a:r>
            <a:r>
              <a:rPr lang="en-IN" b="1" dirty="0"/>
              <a:t>machine type, air temperature, process temperature, rotational speed, torque, and tool wear</a:t>
            </a:r>
            <a:r>
              <a:rPr lang="en-IN" dirty="0"/>
              <a:t>. Based on these values, it classifies the machine condition into failure types like </a:t>
            </a:r>
            <a:r>
              <a:rPr lang="en-IN" b="1" dirty="0"/>
              <a:t>No Failure, Power Failure, Tool Wear Failure, Heat Dissipation Failure, Overstrain Failure,</a:t>
            </a:r>
            <a:r>
              <a:rPr lang="en-IN" dirty="0"/>
              <a:t> or </a:t>
            </a:r>
            <a:r>
              <a:rPr lang="en-IN" b="1" dirty="0"/>
              <a:t>Random Failure</a:t>
            </a:r>
            <a:r>
              <a:rPr lang="en-IN" dirty="0"/>
              <a:t>.</a:t>
            </a:r>
          </a:p>
          <a:p>
            <a:endParaRPr lang="en-IN" dirty="0"/>
          </a:p>
          <a:p>
            <a:r>
              <a:rPr lang="en-IN" dirty="0"/>
              <a:t>Using </a:t>
            </a:r>
            <a:r>
              <a:rPr lang="en-IN" b="1" dirty="0"/>
              <a:t>IBM watsonx.ai Studio</a:t>
            </a:r>
            <a:r>
              <a:rPr lang="en-IN" dirty="0"/>
              <a:t>, the model was trained and tested with a </a:t>
            </a:r>
            <a:r>
              <a:rPr lang="en-IN" b="1" dirty="0"/>
              <a:t>Random Forest Classifier</a:t>
            </a:r>
            <a:r>
              <a:rPr lang="en-IN" dirty="0"/>
              <a:t>. After training, it was deployed using </a:t>
            </a:r>
            <a:r>
              <a:rPr lang="en-IN" b="1" dirty="0"/>
              <a:t>IBM watsonx.ai Runtime / Watson Machine Learning</a:t>
            </a:r>
            <a:r>
              <a:rPr lang="en-IN" dirty="0"/>
              <a:t> as an online backend service.</a:t>
            </a:r>
          </a:p>
          <a:p>
            <a:endParaRPr lang="en-IN" dirty="0"/>
          </a:p>
          <a:p>
            <a:r>
              <a:rPr lang="en-IN" dirty="0"/>
              <a:t>Overall, Machine Learning makes the system proactive by helping industries detect faults early, reduce downtime, and plan maintenance before breakdowns occur.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118479" y="1148749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C74077A6-DBB6-5252-33ED-6D5D769A34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5" y="2015932"/>
            <a:ext cx="10697497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 Studio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creating the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Notebook, preprocessing the dataset, training the machine learning model, and evaluating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Cloud Object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store the predictive maintenance dataset and model-related files securely in IBM Cloud.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Granite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Included as part of the IBM AI ecosystem requirement for advanced AI capabilities and future intelligent explanation support.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watsonx.ai Runtime / Watson Machine Learning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store and deploy the trained Random Forest model as an online backend prediction service.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data preprocessing, model training, testing, and prediction.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build the Random Forest Classifier for predicting machine failure types.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Classifier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as the main ML model to classify machine conditions such as No Failure, Power Failure, Tool Wear Failure, Heat Dissipation Failure, Overstrain Failure, and Random Failure. </a:t>
            </a:r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541266" y="1010245"/>
            <a:ext cx="11301984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proposed </a:t>
            </a:r>
            <a:r>
              <a:rPr lang="en-IN" sz="1800" b="1" dirty="0"/>
              <a:t>Predictive Maintenance System</a:t>
            </a:r>
            <a:r>
              <a:rPr lang="en-IN" sz="1800" dirty="0"/>
              <a:t> stands out by using </a:t>
            </a:r>
            <a:r>
              <a:rPr lang="en-IN" sz="1800" b="1" dirty="0"/>
              <a:t>Machine Learning and IBM Cloud deployment</a:t>
            </a:r>
            <a:r>
              <a:rPr lang="en-IN" sz="1800" dirty="0"/>
              <a:t> to predict machine failures before breakdowns occur.</a:t>
            </a:r>
          </a:p>
          <a:p>
            <a:endParaRPr lang="en-IN" sz="1800" dirty="0"/>
          </a:p>
          <a:p>
            <a:r>
              <a:rPr lang="en-IN" sz="1800" b="1" dirty="0"/>
              <a:t>Failure Type Prediction</a:t>
            </a:r>
            <a:r>
              <a:rPr lang="en-IN" sz="1800" dirty="0"/>
              <a:t> – Instead of only detecting whether a machine fails or not, the system predicts specific failure types such as Power Failure, Tool Wear Failure, Heat Dissipation Failure, Overstrain Failure, and Random Failure.</a:t>
            </a:r>
          </a:p>
          <a:p>
            <a:endParaRPr lang="en-IN" sz="1800" dirty="0"/>
          </a:p>
          <a:p>
            <a:r>
              <a:rPr lang="en-IN" sz="1800" b="1" dirty="0"/>
              <a:t>Sensor-Based Decision Making</a:t>
            </a:r>
            <a:r>
              <a:rPr lang="en-IN" sz="1800" dirty="0"/>
              <a:t> – The model uses real machine parameters like temperature, torque, rotational speed, and tool wear to make predictions.</a:t>
            </a:r>
          </a:p>
          <a:p>
            <a:endParaRPr lang="en-IN" sz="1800" dirty="0"/>
          </a:p>
          <a:p>
            <a:r>
              <a:rPr lang="en-IN" sz="1800" b="1" dirty="0"/>
              <a:t>Preventive Maintenance Focus</a:t>
            </a:r>
            <a:r>
              <a:rPr lang="en-IN" sz="1800" dirty="0"/>
              <a:t> – Helps industries take action before machine breakdown, reducing downtime and maintenance cost.</a:t>
            </a:r>
          </a:p>
          <a:p>
            <a:endParaRPr lang="en-IN" sz="1800" dirty="0"/>
          </a:p>
          <a:p>
            <a:r>
              <a:rPr lang="en-IN" sz="1800" b="1" dirty="0"/>
              <a:t>IBM Cloud Deployment</a:t>
            </a:r>
            <a:r>
              <a:rPr lang="en-IN" sz="1800" dirty="0"/>
              <a:t> – The trained model is deployed as an online backend service using IBM watsonx.ai Runtime / Watson Machine Learning.</a:t>
            </a:r>
          </a:p>
          <a:p>
            <a:endParaRPr lang="en-IN" sz="1800" dirty="0"/>
          </a:p>
          <a:p>
            <a:r>
              <a:rPr lang="en-IN" sz="1800" b="1" dirty="0"/>
              <a:t>Model Interpretability</a:t>
            </a:r>
            <a:r>
              <a:rPr lang="en-IN" sz="1800" dirty="0"/>
              <a:t> – Feature importance shows which machine parameters affect failure prediction the most, such as Tool Wear, Torque, and Rotational Speed.</a:t>
            </a:r>
          </a:p>
          <a:p>
            <a:r>
              <a:rPr lang="en-IN" sz="1800" dirty="0"/>
              <a:t>This makes the solution a </a:t>
            </a:r>
            <a:r>
              <a:rPr lang="en-IN" sz="1800" b="1" dirty="0"/>
              <a:t>smart, practical, and cloud-deployed predictive maintenance system</a:t>
            </a:r>
            <a:r>
              <a:rPr lang="en-IN" sz="1800" dirty="0"/>
              <a:t> for industrial machinery.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Git Hub Link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218723" y="1153712"/>
            <a:ext cx="10481663" cy="5424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1800" dirty="0"/>
              <a:t>A public GitHub repository has been created for this project. The repository contains all required project files, including the configuration file, problem statement, project presentation, notebook/code files, and supporting screenshots.</a:t>
            </a:r>
          </a:p>
          <a:p>
            <a:endParaRPr lang="en-IN" sz="1800" dirty="0"/>
          </a:p>
          <a:p>
            <a:r>
              <a:rPr lang="en-IN" sz="1800" b="1" dirty="0"/>
              <a:t>GitHub Repository URL:</a:t>
            </a:r>
            <a:br>
              <a:rPr lang="en-IN" sz="1800" dirty="0"/>
            </a:br>
            <a:r>
              <a:rPr lang="en-IN" sz="1800" dirty="0">
                <a:hlinkClick r:id="rId3"/>
              </a:rPr>
              <a:t>https://github.com/lucia-builds/predictive-maintenance-ibm-ml.git</a:t>
            </a:r>
            <a:endParaRPr lang="en-IN" sz="1800" dirty="0"/>
          </a:p>
          <a:p>
            <a:endParaRPr lang="en-IN" sz="1800" dirty="0"/>
          </a:p>
          <a:p>
            <a:r>
              <a:rPr lang="en-IN" sz="1800" b="1" dirty="0"/>
              <a:t>Uploaded Files in Repository</a:t>
            </a:r>
          </a:p>
          <a:p>
            <a:r>
              <a:rPr lang="en-IN" sz="1800" dirty="0"/>
              <a:t>The following files have been uploaded:</a:t>
            </a:r>
          </a:p>
          <a:p>
            <a:r>
              <a:rPr lang="en-IN" sz="1800" b="1" dirty="0" err="1"/>
              <a:t>app.json</a:t>
            </a:r>
            <a:r>
              <a:rPr lang="en-IN" sz="1800" dirty="0"/>
              <a:t> – Project metadata and configuration file </a:t>
            </a:r>
          </a:p>
          <a:p>
            <a:r>
              <a:rPr lang="en-IN" sz="1800" b="1" dirty="0"/>
              <a:t>problemstatement.pdf</a:t>
            </a:r>
            <a:r>
              <a:rPr lang="en-IN" sz="1800" dirty="0"/>
              <a:t> – Problem statement document </a:t>
            </a:r>
          </a:p>
          <a:p>
            <a:r>
              <a:rPr lang="en-IN" sz="1800" b="1" dirty="0"/>
              <a:t>projectpresentation.pptx</a:t>
            </a:r>
            <a:r>
              <a:rPr lang="en-IN" sz="1800" dirty="0"/>
              <a:t> – Final project presentation </a:t>
            </a:r>
          </a:p>
          <a:p>
            <a:r>
              <a:rPr lang="en-IN" sz="1800" b="1" dirty="0" err="1"/>
              <a:t>predictive_maintenance_notebook.ipynb</a:t>
            </a:r>
            <a:r>
              <a:rPr lang="en-IN" sz="1800" dirty="0"/>
              <a:t> – </a:t>
            </a:r>
            <a:r>
              <a:rPr lang="en-IN" sz="1800" dirty="0" err="1"/>
              <a:t>Jupyter</a:t>
            </a:r>
            <a:r>
              <a:rPr lang="en-IN" sz="1800" dirty="0"/>
              <a:t> Notebook containing training, testing, and deployment code </a:t>
            </a:r>
          </a:p>
          <a:p>
            <a:r>
              <a:rPr lang="en-IN" sz="1800" b="1" dirty="0"/>
              <a:t>requirements.txt</a:t>
            </a:r>
            <a:r>
              <a:rPr lang="en-IN" sz="1800" dirty="0"/>
              <a:t> – Required Python libraries </a:t>
            </a:r>
          </a:p>
          <a:p>
            <a:r>
              <a:rPr lang="en-IN" sz="1800" b="1"/>
              <a:t>screenshots</a:t>
            </a:r>
            <a:r>
              <a:rPr lang="en-IN" sz="1800"/>
              <a:t> </a:t>
            </a:r>
            <a:r>
              <a:rPr lang="en-IN" sz="1800" dirty="0"/>
              <a:t>– Output screenshots including model accuracy, deployment status, and </a:t>
            </a:r>
            <a:r>
              <a:rPr lang="en-IN" sz="1800"/>
              <a:t>prediction result</a:t>
            </a:r>
            <a:endParaRPr lang="en-IN" sz="1800" dirty="0"/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indent="-457200">
              <a:buAutoNum type="arabicPeriod"/>
            </a:pPr>
            <a:r>
              <a:rPr lang="en-IN" sz="2000" b="1" dirty="0"/>
              <a:t>Real-Time Sensor Integration –</a:t>
            </a:r>
            <a:br>
              <a:rPr lang="en-IN" sz="2000" dirty="0"/>
            </a:br>
            <a:r>
              <a:rPr lang="en-IN" sz="2000" dirty="0"/>
              <a:t>The system can be integrated with IoT sensors installed on industrial machines to collect real-time values such as temperature, torque, rotational speed, vibration, and tool wear. This will help predict failures continuously during machine operation.</a:t>
            </a:r>
          </a:p>
          <a:p>
            <a:endParaRPr lang="en-IN" sz="2000" dirty="0"/>
          </a:p>
          <a:p>
            <a:r>
              <a:rPr lang="en-IN" sz="2000" b="1" dirty="0"/>
              <a:t>2. Alert and Maintenance Notification System –</a:t>
            </a:r>
            <a:br>
              <a:rPr lang="en-IN" sz="2000" dirty="0"/>
            </a:br>
            <a:r>
              <a:rPr lang="en-IN" sz="2000" dirty="0"/>
              <a:t>The system can be enhanced with automatic alerts through email, SMS, or dashboard notifications whenever a high-risk failure is predicted. This will help engineers take preventive maintenance action before breakdown occurs.</a:t>
            </a: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1220</TotalTime>
  <Words>1566</Words>
  <Application>Microsoft Office PowerPoint</Application>
  <PresentationFormat>Widescreen</PresentationFormat>
  <Paragraphs>131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Anwesha Sural</cp:lastModifiedBy>
  <cp:revision>24</cp:revision>
  <dcterms:created xsi:type="dcterms:W3CDTF">2025-07-08T05:06:56Z</dcterms:created>
  <dcterms:modified xsi:type="dcterms:W3CDTF">2026-06-05T18:11:15Z</dcterms:modified>
</cp:coreProperties>
</file>